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481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697480"/>
          </a:xfrm>
          <a:prstGeom prst="rect">
            <a:avLst/>
          </a:prstGeom>
          <a:solidFill>
            <a:srgbClr val="0637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DC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FIDELIDADE  ·  APRESENTAÇÃO À DIRETORIA  ·  JUNHO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 Intelligence </a:t>
            </a:r>
            <a:r>
              <a:rPr lang="en-US" sz="460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democratização da IA à inteligência aplicada ao resultado do negócio.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971800"/>
            <a:ext cx="11057839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971800"/>
            <a:ext cx="82296" cy="1298448"/>
          </a:xfrm>
          <a:prstGeom prst="rect">
            <a:avLst/>
          </a:prstGeom>
          <a:solidFill>
            <a:srgbClr val="12A0E0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3127248"/>
            <a:ext cx="1041775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de Fidelidade não está apenas usando IA.
Está estruturando IA como uma nova camada de inteligência para transformar dados, métricas e conhecimento de negócio em </a:t>
            </a:r>
            <a:r>
              <a:rPr lang="en-US" sz="16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decisão, governança e resultado econômico mensurável.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4709160"/>
            <a:ext cx="191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66928" y="5468112"/>
            <a:ext cx="191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BF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BF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cadastrados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51648" y="4709160"/>
            <a:ext cx="191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851648" y="5468112"/>
            <a:ext cx="191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BF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ativos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BF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36368" y="4709160"/>
            <a:ext cx="191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136368" y="5468112"/>
            <a:ext cx="191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BF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do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BF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21088" y="4709160"/>
            <a:ext cx="191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7421088" y="5468112"/>
            <a:ext cx="191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BF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executivos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BF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propostos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705807" y="4709160"/>
            <a:ext cx="191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705807" y="5468112"/>
            <a:ext cx="191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BF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até o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BF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resultado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 ·  Resultado econômico  ·  Governança  ·  Execução em 90 dias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ATUAL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hoje: decisão sem inteligência estruturada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Riqueza analítica de sobra — arquitetura de gestão de menos.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002A5C"/>
          </a:solidFill>
          <a:ln/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PARADOXO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2331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Temos dados.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9536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temos </a:t>
            </a:r>
            <a:r>
              <a:rPr lang="en-US" sz="240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confiável.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9536" y="3611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entrou no Fidelidade — prompts, protótipos de painel, geração de PPT e leitura de indicadores.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59536" y="4572000"/>
            <a:ext cx="3063240" cy="1417320"/>
          </a:xfrm>
          <a:prstGeom prst="roundRect">
            <a:avLst>
              <a:gd name="adj" fmla="val 3871"/>
            </a:avLst>
          </a:prstGeom>
          <a:solidFill>
            <a:srgbClr val="06376E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4681728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só no Nível 1.
</a:t>
            </a:r>
            <a:r>
              <a:rPr lang="en-US" sz="135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rápido e visível — não necessariamente resultado sustentável.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53128" y="1783080"/>
            <a:ext cx="3448660" cy="1353312"/>
          </a:xfrm>
          <a:prstGeom prst="roundRect">
            <a:avLst>
              <a:gd name="adj" fmla="val 4054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81728" y="2029968"/>
            <a:ext cx="457200" cy="457200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2125980"/>
            <a:ext cx="265176" cy="26517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321808" y="1965960"/>
            <a:ext cx="2397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por demanda, não por estratégia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321808" y="2459736"/>
            <a:ext cx="2397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painéis crescem sem espinha dorsal comum de gestão.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76108" y="1783080"/>
            <a:ext cx="3448660" cy="1353312"/>
          </a:xfrm>
          <a:prstGeom prst="roundRect">
            <a:avLst>
              <a:gd name="adj" fmla="val 4054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04708" y="2029968"/>
            <a:ext cx="457200" cy="457200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720" y="2125980"/>
            <a:ext cx="265176" cy="26517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044788" y="1965960"/>
            <a:ext cx="2397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métrica, números diferentes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9044788" y="2459736"/>
            <a:ext cx="2397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Definições e granularidades distintas minam a confiança executiva.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453128" y="3337560"/>
            <a:ext cx="3448660" cy="1353312"/>
          </a:xfrm>
          <a:prstGeom prst="roundRect">
            <a:avLst>
              <a:gd name="adj" fmla="val 4054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81728" y="3584448"/>
            <a:ext cx="457200" cy="457200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3680460"/>
            <a:ext cx="265176" cy="26517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21808" y="3520440"/>
            <a:ext cx="2397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decisórios misturados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5321808" y="4014216"/>
            <a:ext cx="2397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Executivo, gerencial e operacional na mesma tela, sem hierarquia.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176108" y="3337560"/>
            <a:ext cx="3448660" cy="1353312"/>
          </a:xfrm>
          <a:prstGeom prst="roundRect">
            <a:avLst>
              <a:gd name="adj" fmla="val 4054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404708" y="3584448"/>
            <a:ext cx="457200" cy="457200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0720" y="3680460"/>
            <a:ext cx="265176" cy="26517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044788" y="3520440"/>
            <a:ext cx="2397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conceitos dispersa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9044788" y="4014216"/>
            <a:ext cx="2397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catálogo oficial, rastreável e versionado de métricas.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453128" y="4892040"/>
            <a:ext cx="3448660" cy="1353312"/>
          </a:xfrm>
          <a:prstGeom prst="roundRect">
            <a:avLst>
              <a:gd name="adj" fmla="val 4054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681728" y="5138928"/>
            <a:ext cx="457200" cy="457200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7740" y="5234940"/>
            <a:ext cx="265176" cy="26517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21808" y="5074920"/>
            <a:ext cx="2397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Excesso de filtros, baixa hierarquia visual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5321808" y="5568696"/>
            <a:ext cx="2397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pede filtro antes de responder à pergunta de negócio.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8176108" y="4892040"/>
            <a:ext cx="3448660" cy="1353312"/>
          </a:xfrm>
          <a:prstGeom prst="roundRect">
            <a:avLst>
              <a:gd name="adj" fmla="val 4054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404708" y="5138928"/>
            <a:ext cx="457200" cy="457200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0720" y="5234940"/>
            <a:ext cx="265176" cy="26517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044788" y="5074920"/>
            <a:ext cx="23971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peças, sem arquitetura de portfólio</a:t>
            </a:r>
            <a:endParaRPr lang="en-US" sz="1350" dirty="0"/>
          </a:p>
        </p:txBody>
      </p:sp>
      <p:sp>
        <p:nvSpPr>
          <p:cNvPr id="41" name="Text 33"/>
          <p:cNvSpPr/>
          <p:nvPr/>
        </p:nvSpPr>
        <p:spPr>
          <a:xfrm>
            <a:off x="9044788" y="5568696"/>
            <a:ext cx="23971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painel é uma ilha; o conjunto não opera como sistema.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566928" y="6382512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falta de dado. É ausência de desenho de gestão — </a:t>
            </a:r>
            <a:r>
              <a:rPr lang="en-US" sz="1350" b="1" dirty="0">
                <a:solidFill>
                  <a:srgbClr val="0B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IA, sozinha, não resolve isso.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correta — e por que “só pôr IA” não basta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é a camada que amplifica uma base sólida. Não o atalho que a substitui.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599133" cy="713232"/>
          </a:xfrm>
          <a:prstGeom prst="roundRect">
            <a:avLst>
              <a:gd name="adj" fmla="val 7692"/>
            </a:avLst>
          </a:prstGeom>
          <a:solidFill>
            <a:srgbClr val="0B57A4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74520"/>
            <a:ext cx="15991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069" y="2112264"/>
            <a:ext cx="237744" cy="2377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58669" y="1874520"/>
            <a:ext cx="1599133" cy="713232"/>
          </a:xfrm>
          <a:prstGeom prst="roundRect">
            <a:avLst>
              <a:gd name="adj" fmla="val 7692"/>
            </a:avLst>
          </a:prstGeom>
          <a:solidFill>
            <a:srgbClr val="0B57A4"/>
          </a:solidFill>
          <a:ln/>
        </p:spPr>
      </p:sp>
      <p:sp>
        <p:nvSpPr>
          <p:cNvPr id="9" name="Text 6"/>
          <p:cNvSpPr/>
          <p:nvPr/>
        </p:nvSpPr>
        <p:spPr>
          <a:xfrm>
            <a:off x="2458669" y="1874520"/>
            <a:ext cx="15991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810" y="2112264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50410" y="1874520"/>
            <a:ext cx="1599133" cy="713232"/>
          </a:xfrm>
          <a:prstGeom prst="roundRect">
            <a:avLst>
              <a:gd name="adj" fmla="val 7692"/>
            </a:avLst>
          </a:prstGeom>
          <a:solidFill>
            <a:srgbClr val="0B57A4"/>
          </a:solidFill>
          <a:ln/>
        </p:spPr>
      </p:sp>
      <p:sp>
        <p:nvSpPr>
          <p:cNvPr id="12" name="Text 8"/>
          <p:cNvSpPr/>
          <p:nvPr/>
        </p:nvSpPr>
        <p:spPr>
          <a:xfrm>
            <a:off x="4350410" y="1874520"/>
            <a:ext cx="15991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552" y="2112264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42152" y="1874520"/>
            <a:ext cx="1599133" cy="713232"/>
          </a:xfrm>
          <a:prstGeom prst="roundRect">
            <a:avLst>
              <a:gd name="adj" fmla="val 7692"/>
            </a:avLst>
          </a:prstGeom>
          <a:solidFill>
            <a:srgbClr val="0B57A4"/>
          </a:solidFill>
          <a:ln/>
        </p:spPr>
      </p:sp>
      <p:sp>
        <p:nvSpPr>
          <p:cNvPr id="15" name="Text 10"/>
          <p:cNvSpPr/>
          <p:nvPr/>
        </p:nvSpPr>
        <p:spPr>
          <a:xfrm>
            <a:off x="6242152" y="1874520"/>
            <a:ext cx="15991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6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293" y="2112264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33893" y="1874520"/>
            <a:ext cx="1599133" cy="713232"/>
          </a:xfrm>
          <a:prstGeom prst="roundRect">
            <a:avLst>
              <a:gd name="adj" fmla="val 7692"/>
            </a:avLst>
          </a:prstGeom>
          <a:solidFill>
            <a:srgbClr val="0B57A4"/>
          </a:solidFill>
          <a:ln/>
        </p:spPr>
      </p:sp>
      <p:sp>
        <p:nvSpPr>
          <p:cNvPr id="18" name="Text 12"/>
          <p:cNvSpPr/>
          <p:nvPr/>
        </p:nvSpPr>
        <p:spPr>
          <a:xfrm>
            <a:off x="8133893" y="1874520"/>
            <a:ext cx="15991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6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034" y="2112264"/>
            <a:ext cx="237744" cy="2377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10025634" y="1874520"/>
            <a:ext cx="1599133" cy="713232"/>
          </a:xfrm>
          <a:prstGeom prst="roundRect">
            <a:avLst>
              <a:gd name="adj" fmla="val 7692"/>
            </a:avLst>
          </a:prstGeom>
          <a:solidFill>
            <a:srgbClr val="12A0E0"/>
          </a:solidFill>
          <a:ln/>
        </p:spPr>
      </p:sp>
      <p:sp>
        <p:nvSpPr>
          <p:cNvPr id="21" name="Text 14"/>
          <p:cNvSpPr/>
          <p:nvPr/>
        </p:nvSpPr>
        <p:spPr>
          <a:xfrm>
            <a:off x="10025634" y="1874520"/>
            <a:ext cx="159913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566928" y="26700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 essa ordem — começar pela ferramenta — é o que faz projetos de IA gerarem movimento sem gerar resultado.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66928" y="3246120"/>
            <a:ext cx="5346040" cy="2606040"/>
          </a:xfrm>
          <a:prstGeom prst="roundRect">
            <a:avLst>
              <a:gd name="adj" fmla="val 2456"/>
            </a:avLst>
          </a:prstGeom>
          <a:solidFill>
            <a:srgbClr val="FBF2DD"/>
          </a:solidFill>
          <a:ln w="12700">
            <a:solidFill>
              <a:srgbClr val="E8D3A0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520440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98448" y="3502152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8A5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Nível 1 — onde a maioria para</a:t>
            </a:r>
            <a:endParaRPr lang="en-US" sz="1550" dirty="0"/>
          </a:p>
        </p:txBody>
      </p:sp>
      <p:sp>
        <p:nvSpPr>
          <p:cNvPr id="26" name="Text 18"/>
          <p:cNvSpPr/>
          <p:nvPr/>
        </p:nvSpPr>
        <p:spPr>
          <a:xfrm>
            <a:off x="877824" y="3995928"/>
            <a:ext cx="479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prompt — </a:t>
            </a:r>
            <a:r>
              <a:rPr lang="en-US" sz="1250" dirty="0">
                <a:solidFill>
                  <a:srgbClr val="7A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pontual: redigir, resumir, responder.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877824" y="4434840"/>
            <a:ext cx="479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gerador de conteúdo — </a:t>
            </a:r>
            <a:r>
              <a:rPr lang="en-US" sz="1250" dirty="0">
                <a:solidFill>
                  <a:srgbClr val="7A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e relatórios sem conexão com dado real.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877824" y="4873752"/>
            <a:ext cx="479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protótipo isolado — </a:t>
            </a:r>
            <a:r>
              <a:rPr lang="en-US" sz="1250" dirty="0">
                <a:solidFill>
                  <a:srgbClr val="7A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sem dono, métrica ou fonte oficial.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877824" y="5312664"/>
            <a:ext cx="479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como backlog infinito — </a:t>
            </a:r>
            <a:r>
              <a:rPr lang="en-US" sz="1250" dirty="0">
                <a:solidFill>
                  <a:srgbClr val="7A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ideias sem critério nem resultado.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278728" y="3246120"/>
            <a:ext cx="5346040" cy="2606040"/>
          </a:xfrm>
          <a:prstGeom prst="roundRect">
            <a:avLst>
              <a:gd name="adj" fmla="val 2456"/>
            </a:avLst>
          </a:prstGeom>
          <a:solidFill>
            <a:srgbClr val="002A5C"/>
          </a:solidFill>
          <a:ln/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336" y="3520440"/>
            <a:ext cx="310896" cy="31089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10248" y="3502152"/>
            <a:ext cx="443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ao resultado — onde vamos</a:t>
            </a:r>
            <a:endParaRPr lang="en-US" sz="1550" dirty="0"/>
          </a:p>
        </p:txBody>
      </p:sp>
      <p:sp>
        <p:nvSpPr>
          <p:cNvPr id="33" name="Text 24"/>
          <p:cNvSpPr/>
          <p:nvPr/>
        </p:nvSpPr>
        <p:spPr>
          <a:xfrm>
            <a:off x="6589624" y="4023360"/>
            <a:ext cx="475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iniciativa nasce de um problema de negócio definido.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 às métricas oficiais e às fontes homologadas.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dono, indicador de impacto e critério de sucesso.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humana obrigatória nos outputs críticos.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amplia decisão. </a:t>
            </a: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substitui estratégia, governança nem o julgamento humano em decisões econômicas.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ALVO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 como negócio, BI como cockpit de decisão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motores organizam o negócio. Quatro camadas o tornam acionável.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7 MOTORES DO NEGÓCIO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85216" y="2039112"/>
            <a:ext cx="420624" cy="420624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2125980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" y="2011680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Clientes  </a:t>
            </a:r>
            <a:r>
              <a:rPr lang="en-US" sz="12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aquisição, ativação, retenção, tiers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" y="2642616"/>
            <a:ext cx="420624" cy="420624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272948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2615184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 </a:t>
            </a:r>
            <a:r>
              <a:rPr lang="en-US" sz="12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acúmulo, venda de pontos, passivo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85216" y="3246120"/>
            <a:ext cx="420624" cy="420624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" y="3332988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33856" y="3218688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 </a:t>
            </a:r>
            <a:r>
              <a:rPr lang="en-US" sz="12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resgates, experiência, consumo do passivo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85216" y="3849624"/>
            <a:ext cx="420624" cy="420624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3936492"/>
            <a:ext cx="246888" cy="2468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33856" y="3822192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  </a:t>
            </a:r>
            <a:r>
              <a:rPr lang="en-US" sz="12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recorrência e previsibilidade de caixa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85216" y="4453128"/>
            <a:ext cx="420624" cy="420624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" y="4539996"/>
            <a:ext cx="246888" cy="2468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33856" y="4425696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  </a:t>
            </a:r>
            <a:r>
              <a:rPr lang="en-US" sz="12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Itaú: alto valor e earn recorrente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585216" y="5056632"/>
            <a:ext cx="420624" cy="420624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" y="5143500"/>
            <a:ext cx="246888" cy="2468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33856" y="5029200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 </a:t>
            </a:r>
            <a:r>
              <a:rPr lang="en-US" sz="12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parceiros, campanhas e bancos</a:t>
            </a:r>
            <a:endParaRPr lang="en-US" sz="1250" dirty="0"/>
          </a:p>
        </p:txBody>
      </p:sp>
      <p:sp>
        <p:nvSpPr>
          <p:cNvPr id="24" name="Shape 16"/>
          <p:cNvSpPr/>
          <p:nvPr/>
        </p:nvSpPr>
        <p:spPr>
          <a:xfrm>
            <a:off x="585216" y="5660136"/>
            <a:ext cx="420624" cy="420624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747004"/>
            <a:ext cx="246888" cy="24688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133856" y="5632704"/>
            <a:ext cx="4873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do Programa  </a:t>
            </a:r>
            <a:r>
              <a:rPr lang="en-US" sz="12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liability, breakage, transfer price, custo marginal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6373368" y="1783080"/>
            <a:ext cx="0" cy="4251960"/>
          </a:xfrm>
          <a:prstGeom prst="line">
            <a:avLst/>
          </a:prstGeom>
          <a:noFill/>
          <a:ln w="12700">
            <a:solidFill>
              <a:srgbClr val="D4E1EE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6693408" y="1691640"/>
            <a:ext cx="49313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B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CAMADAS POR NÍVEL DECISÓRIO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6693408" y="2011680"/>
            <a:ext cx="4931359" cy="841248"/>
          </a:xfrm>
          <a:prstGeom prst="roundRect">
            <a:avLst>
              <a:gd name="adj" fmla="val 5435"/>
            </a:avLst>
          </a:prstGeom>
          <a:solidFill>
            <a:srgbClr val="002A5C"/>
          </a:solidFill>
          <a:ln/>
        </p:spPr>
      </p:sp>
      <p:sp>
        <p:nvSpPr>
          <p:cNvPr id="30" name="Text 21"/>
          <p:cNvSpPr/>
          <p:nvPr/>
        </p:nvSpPr>
        <p:spPr>
          <a:xfrm>
            <a:off x="6949440" y="2103120"/>
            <a:ext cx="44741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Scorecard</a:t>
            </a:r>
            <a:endParaRPr lang="en-US" sz="1450" dirty="0"/>
          </a:p>
        </p:txBody>
      </p:sp>
      <p:sp>
        <p:nvSpPr>
          <p:cNvPr id="31" name="Text 22"/>
          <p:cNvSpPr/>
          <p:nvPr/>
        </p:nvSpPr>
        <p:spPr>
          <a:xfrm>
            <a:off x="6949440" y="2377440"/>
            <a:ext cx="44741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DC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· VP · C-Level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6949440" y="2560320"/>
            <a:ext cx="4474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KPIs oficiais: estamos ganhando, perdendo, onde agir?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986016" y="2971800"/>
            <a:ext cx="4638751" cy="841248"/>
          </a:xfrm>
          <a:prstGeom prst="roundRect">
            <a:avLst>
              <a:gd name="adj" fmla="val 5435"/>
            </a:avLst>
          </a:prstGeom>
          <a:solidFill>
            <a:srgbClr val="0B57A4"/>
          </a:solidFill>
          <a:ln/>
        </p:spPr>
      </p:sp>
      <p:sp>
        <p:nvSpPr>
          <p:cNvPr id="34" name="Text 25"/>
          <p:cNvSpPr/>
          <p:nvPr/>
        </p:nvSpPr>
        <p:spPr>
          <a:xfrm>
            <a:off x="7242048" y="3063240"/>
            <a:ext cx="418155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por Domínio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7242048" y="3337560"/>
            <a:ext cx="41815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DC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Gerentes · Produto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7242048" y="3520440"/>
            <a:ext cx="4181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painel por domínio: receita, Clube, AIC, earn/burn, liability…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7278624" y="3931920"/>
            <a:ext cx="4346143" cy="841248"/>
          </a:xfrm>
          <a:prstGeom prst="roundRect">
            <a:avLst>
              <a:gd name="adj" fmla="val 5435"/>
            </a:avLst>
          </a:prstGeom>
          <a:solidFill>
            <a:srgbClr val="2E7DBC"/>
          </a:solidFill>
          <a:ln/>
        </p:spPr>
      </p:sp>
      <p:sp>
        <p:nvSpPr>
          <p:cNvPr id="38" name="Text 29"/>
          <p:cNvSpPr/>
          <p:nvPr/>
        </p:nvSpPr>
        <p:spPr>
          <a:xfrm>
            <a:off x="7534656" y="4023360"/>
            <a:ext cx="388894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Tático / Operacional</a:t>
            </a:r>
            <a:endParaRPr lang="en-US" sz="1450" dirty="0"/>
          </a:p>
        </p:txBody>
      </p:sp>
      <p:sp>
        <p:nvSpPr>
          <p:cNvPr id="39" name="Text 30"/>
          <p:cNvSpPr/>
          <p:nvPr/>
        </p:nvSpPr>
        <p:spPr>
          <a:xfrm>
            <a:off x="7534656" y="4297680"/>
            <a:ext cx="38889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9DC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Coordenadores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7534656" y="4480560"/>
            <a:ext cx="38889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quebrou, o que caiu, onde agir agora.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7571232" y="4892040"/>
            <a:ext cx="4053535" cy="841248"/>
          </a:xfrm>
          <a:prstGeom prst="roundRect">
            <a:avLst>
              <a:gd name="adj" fmla="val 5435"/>
            </a:avLst>
          </a:prstGeom>
          <a:solidFill>
            <a:srgbClr val="EAF3FB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7827264" y="4983480"/>
            <a:ext cx="3596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1450" dirty="0"/>
          </a:p>
        </p:txBody>
      </p:sp>
      <p:sp>
        <p:nvSpPr>
          <p:cNvPr id="43" name="Text 34"/>
          <p:cNvSpPr/>
          <p:nvPr/>
        </p:nvSpPr>
        <p:spPr>
          <a:xfrm>
            <a:off x="7827264" y="5257800"/>
            <a:ext cx="35963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· Engenharia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7827264" y="5440680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executou, regra mudou, número fechou.</a:t>
            </a:r>
            <a:endParaRPr lang="en-US" sz="1100" dirty="0"/>
          </a:p>
        </p:txBody>
      </p:sp>
      <p:sp>
        <p:nvSpPr>
          <p:cNvPr id="45" name="Text 36"/>
          <p:cNvSpPr/>
          <p:nvPr/>
        </p:nvSpPr>
        <p:spPr>
          <a:xfrm>
            <a:off x="566928" y="63550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cockpit responde de imediato: </a:t>
            </a: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receita, passivo, burn, Clube, AIC, clientes de alto valor — e qual alavanca precisa de ação agora.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IA GERA VALOR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 a prioridade — não a moda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caso de IA aponta para uma prioridade da liderança e um número que muda.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903720" cy="786384"/>
          </a:xfrm>
          <a:prstGeom prst="roundRect">
            <a:avLst>
              <a:gd name="adj" fmla="val 5814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938528"/>
            <a:ext cx="475488" cy="475488"/>
          </a:xfrm>
          <a:prstGeom prst="ellipse">
            <a:avLst/>
          </a:prstGeom>
          <a:solidFill>
            <a:srgbClr val="002A5C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38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35608" y="189280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e engajamento de clientes de alto valor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35608" y="21854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dinâmica, propensão a churn e personalização de oferta por perfil.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6903720" cy="786384"/>
          </a:xfrm>
          <a:prstGeom prst="roundRect">
            <a:avLst>
              <a:gd name="adj" fmla="val 5814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2843784"/>
            <a:ext cx="475488" cy="475488"/>
          </a:xfrm>
          <a:prstGeom prst="ellipse">
            <a:avLst/>
          </a:prstGeom>
          <a:solidFill>
            <a:srgbClr val="00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843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435608" y="279806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econômica do programa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35608" y="30906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 de earn/burn, liability e breakage, com alertas preditivos.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3593592"/>
            <a:ext cx="6903720" cy="786384"/>
          </a:xfrm>
          <a:prstGeom prst="roundRect">
            <a:avLst>
              <a:gd name="adj" fmla="val 5814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3749040"/>
            <a:ext cx="475488" cy="475488"/>
          </a:xfrm>
          <a:prstGeom prst="ellipse">
            <a:avLst/>
          </a:prstGeom>
          <a:solidFill>
            <a:srgbClr val="002A5C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749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35608" y="370332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de receita com rentabilidade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35608" y="39959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automática de desvios de faturamento, PMD e margem, com explicação de causa.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498848"/>
            <a:ext cx="6903720" cy="786384"/>
          </a:xfrm>
          <a:prstGeom prst="roundRect">
            <a:avLst>
              <a:gd name="adj" fmla="val 5814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654296"/>
            <a:ext cx="475488" cy="475488"/>
          </a:xfrm>
          <a:prstGeom prst="ellipse">
            <a:avLst/>
          </a:prstGeom>
          <a:solidFill>
            <a:srgbClr val="002A5C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654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435608" y="460857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 e governança de dados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35608" y="490118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anomalias, reconciliação de fontes e catálogo vivo de métricas oficiais.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5422392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 1–4 do ranking da liderança  →  oportunidade objetiva de IA.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36408" y="1783080"/>
            <a:ext cx="3788359" cy="2148840"/>
          </a:xfrm>
          <a:prstGeom prst="roundRect">
            <a:avLst>
              <a:gd name="adj" fmla="val 2979"/>
            </a:avLst>
          </a:prstGeom>
          <a:solidFill>
            <a:srgbClr val="EAF3FB"/>
          </a:solidFill>
          <a:ln/>
        </p:spPr>
      </p:sp>
      <p:sp>
        <p:nvSpPr>
          <p:cNvPr id="27" name="Text 25"/>
          <p:cNvSpPr/>
          <p:nvPr/>
        </p:nvSpPr>
        <p:spPr>
          <a:xfrm>
            <a:off x="8110728" y="1965960"/>
            <a:ext cx="323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B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RÉGUAS DE SAÚDE — JÁ DEFINIDAS PELA LIDERANÇA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10728" y="2304288"/>
            <a:ext cx="3285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× Earn: </a:t>
            </a: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em 85%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10728" y="2697480"/>
            <a:ext cx="3285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</a:t>
            </a: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acima de earn em 3 meses ou no ano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10728" y="3090672"/>
            <a:ext cx="3285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Liability: </a:t>
            </a: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ultrapassar 12 meses de resgates futuros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10728" y="3483864"/>
            <a:ext cx="32854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Breakage: </a:t>
            </a: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saudável em 15% (± 5 p.p.)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36408" y="4069080"/>
            <a:ext cx="3788359" cy="1965960"/>
          </a:xfrm>
          <a:prstGeom prst="roundRect">
            <a:avLst>
              <a:gd name="adj" fmla="val 3256"/>
            </a:avLst>
          </a:prstGeom>
          <a:solidFill>
            <a:srgbClr val="002A5C"/>
          </a:solidFill>
          <a:ln/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4315968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586216" y="4315968"/>
            <a:ext cx="2873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inegociável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110728" y="4800600"/>
            <a:ext cx="323971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métrica de resultado, não há caso de uso. </a:t>
            </a:r>
            <a:r>
              <a:rPr lang="en-US" sz="125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iniciativa de IA precisa de um problema, um dono e um indicador que muda — com validação humana nas decisões críticas.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566928" y="638251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 domínios de oportunidade mapeados — cada um com problema real, dado disponível e resultado mensurável.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ENTREGÁVEL — TANGÍVEL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de Performance do Fidelidade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executivo semanal gerado por IA — sobre os indicadores oficiais do programa.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9842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B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2441448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bases gerenciais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oficiais do período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contábil e P&amp;L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saúde (earn/burn, passivo, breakage)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da liderança e benchmarks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90288" y="178308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002A5C"/>
          </a:solidFill>
          <a:ln/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2002536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90288" y="24597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DE PERFORMANCE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910328" y="2807208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indicadores do período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desvios vs. meta e histórico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possíveis causas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alavancas de correção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narrativa executiva estruturada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13648" y="1783080"/>
            <a:ext cx="3520440" cy="2743200"/>
          </a:xfrm>
          <a:prstGeom prst="roundRect">
            <a:avLst>
              <a:gd name="adj" fmla="val 2333"/>
            </a:avLst>
          </a:prstGeom>
          <a:solidFill>
            <a:srgbClr val="F4F8FD"/>
          </a:solidFill>
          <a:ln w="12700">
            <a:solidFill>
              <a:srgbClr val="D4E1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13648" y="19842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B5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33688" y="2441448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semanal / mensal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desvio com contexto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Alavancas priorizadas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para reuniões executivas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comparável ao longo do tempo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380" y="3035808"/>
            <a:ext cx="310896" cy="237744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740" y="3035808"/>
            <a:ext cx="310896" cy="23774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66928" y="4800600"/>
            <a:ext cx="350306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1EE"/>
            </a:solidFill>
            <a:prstDash val="solid"/>
          </a:ln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9" name="Text 14"/>
          <p:cNvSpPr/>
          <p:nvPr/>
        </p:nvSpPr>
        <p:spPr>
          <a:xfrm>
            <a:off x="1069848" y="4983480"/>
            <a:ext cx="2817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41248" y="5367528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relatório automático que substitui a análise humana. É um ponto de partida qualificado para a conversa executiva.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344314" y="4800600"/>
            <a:ext cx="350306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1EE"/>
            </a:solidFill>
            <a:prstDash val="solid"/>
          </a:ln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00346" y="5074920"/>
            <a:ext cx="146304" cy="146304"/>
          </a:xfrm>
          <a:prstGeom prst="ellipse">
            <a:avLst/>
          </a:prstGeom>
          <a:solidFill>
            <a:srgbClr val="0B57A4"/>
          </a:solidFill>
          <a:ln/>
        </p:spPr>
      </p:sp>
      <p:sp>
        <p:nvSpPr>
          <p:cNvPr id="23" name="Text 18"/>
          <p:cNvSpPr/>
          <p:nvPr/>
        </p:nvSpPr>
        <p:spPr>
          <a:xfrm>
            <a:off x="4847234" y="4983480"/>
            <a:ext cx="2817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proposto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618634" y="5367528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em 30 dias. Validado com a liderança em 45 dias. Operacional em 60 dias.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121701" y="4800600"/>
            <a:ext cx="350306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E1EE"/>
            </a:solidFill>
            <a:prstDash val="solid"/>
          </a:ln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377733" y="5074920"/>
            <a:ext cx="146304" cy="146304"/>
          </a:xfrm>
          <a:prstGeom prst="ellipse">
            <a:avLst/>
          </a:prstGeom>
          <a:solidFill>
            <a:srgbClr val="12A0E0"/>
          </a:solidFill>
          <a:ln/>
        </p:spPr>
      </p:sp>
      <p:sp>
        <p:nvSpPr>
          <p:cNvPr id="27" name="Text 22"/>
          <p:cNvSpPr/>
          <p:nvPr/>
        </p:nvSpPr>
        <p:spPr>
          <a:xfrm>
            <a:off x="8624621" y="4983480"/>
            <a:ext cx="28172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 sucesso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396021" y="5367528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tempo de preparação de reunião e qualidade da narrativa avaliada pela liderança no uso recorrente.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dias, 3 ondas, governança desde o dia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0700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Pragmatismo antes de ambição. Resultado antes de escala.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42106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4E1EE"/>
            </a:solidFill>
            <a:prstDash val="solid"/>
          </a:ln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783080"/>
            <a:ext cx="3442106" cy="786384"/>
          </a:xfrm>
          <a:prstGeom prst="rect">
            <a:avLst/>
          </a:prstGeom>
          <a:solidFill>
            <a:srgbClr val="002A5C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01952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24028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dias · Fundação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" y="2734056"/>
            <a:ext cx="289346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casos priorizados com donos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Inventariar fontes e qualidade de dados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KPIs oficiais e regras de negócio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mínima: owner, métrica, critério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protótipo do Copiloto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4794" y="1783080"/>
            <a:ext cx="3442106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4E1EE"/>
            </a:solidFill>
            <a:prstDash val="solid"/>
          </a:ln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4794" y="1783080"/>
            <a:ext cx="3442106" cy="786384"/>
          </a:xfrm>
          <a:prstGeom prst="rect">
            <a:avLst/>
          </a:prstGeom>
          <a:solidFill>
            <a:srgbClr val="0B57A4"/>
          </a:solidFill>
          <a:ln/>
        </p:spPr>
      </p:sp>
      <p:sp>
        <p:nvSpPr>
          <p:cNvPr id="12" name="Text 10"/>
          <p:cNvSpPr/>
          <p:nvPr/>
        </p:nvSpPr>
        <p:spPr>
          <a:xfrm>
            <a:off x="4649114" y="1901952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9114" y="224028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dias · MVPs e validação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7402" y="2734056"/>
            <a:ext cx="289346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Copiloto de Performance funcional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outputs com a liderança em ciclo real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motor de explicação de desvios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IA às fontes oficiais (Comarch, DW, P&amp;L)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aprendizados e ajustes de rota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2661" y="1783080"/>
            <a:ext cx="3442106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4E1EE"/>
            </a:solidFill>
            <a:prstDash val="solid"/>
          </a:ln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2661" y="1783080"/>
            <a:ext cx="3442106" cy="786384"/>
          </a:xfrm>
          <a:prstGeom prst="rect">
            <a:avLst/>
          </a:prstGeom>
          <a:solidFill>
            <a:srgbClr val="12A0E0"/>
          </a:solidFill>
          <a:ln/>
        </p:spPr>
      </p:sp>
      <p:sp>
        <p:nvSpPr>
          <p:cNvPr id="17" name="Text 15"/>
          <p:cNvSpPr/>
          <p:nvPr/>
        </p:nvSpPr>
        <p:spPr>
          <a:xfrm>
            <a:off x="8456981" y="1901952"/>
            <a:ext cx="28934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56981" y="2240280"/>
            <a:ext cx="28934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dias · Industrialização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75269" y="2734056"/>
            <a:ext cx="289346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Operacionalizar os MVPs validados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Mensurar impacto e documentar ganhos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para segmentação e campanhas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owners permanentes por domínio</a:t>
            </a:r>
            <a:endParaRPr lang="en-US" sz="1150" dirty="0"/>
          </a:p>
          <a:p>
            <a:pPr marL="152400" indent="-1524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resultados e próxima fase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5074920"/>
            <a:ext cx="11057839" cy="1325880"/>
          </a:xfrm>
          <a:prstGeom prst="roundRect">
            <a:avLst>
              <a:gd name="adj" fmla="val 4828"/>
            </a:avLst>
          </a:prstGeom>
          <a:solidFill>
            <a:srgbClr val="EAF3FB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518404"/>
            <a:ext cx="438912" cy="43891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81328" y="5276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INEGOCIÁVEL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481328" y="56967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princípios entram como critério interno antes de escalar — não depois.</a:t>
            </a:r>
            <a:endParaRPr lang="en-US" sz="11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5294376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029200" y="5257800"/>
            <a:ext cx="306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antes de solução</a:t>
            </a:r>
            <a:endParaRPr lang="en-US" sz="12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5632704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29200" y="5596128"/>
            <a:ext cx="306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impacto obrigatório</a:t>
            </a:r>
            <a:endParaRPr lang="en-US" sz="12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5971032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029200" y="5934456"/>
            <a:ext cx="306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oficial homologada — ou nada</a:t>
            </a:r>
            <a:endParaRPr lang="en-US" sz="12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968" y="5294376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455000" y="5257800"/>
            <a:ext cx="306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humana em outputs críticos</a:t>
            </a:r>
            <a:endParaRPr lang="en-US" sz="12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968" y="5632704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455000" y="5596128"/>
            <a:ext cx="306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uso recorrente tem owner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637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EXECUTIVO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apenas usando IA.
</a:t>
            </a:r>
            <a:r>
              <a:rPr lang="en-US" sz="1900" b="1" dirty="0">
                <a:solidFill>
                  <a:srgbClr val="CF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dados em decisão, governança e resultado — em 90 dias.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3381146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788920"/>
            <a:ext cx="548640" cy="548640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90779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27048" y="2807208"/>
            <a:ext cx="2283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27048" y="3044952"/>
            <a:ext cx="2283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os MVPs priorizados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86968" y="3538728"/>
            <a:ext cx="27867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Copiloto de Performance, motor de desvios e segmentação de clientes de alto valor.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05274" y="2514600"/>
            <a:ext cx="3381146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97882" y="2788920"/>
            <a:ext cx="548640" cy="548640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754" y="290779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5394" y="2807208"/>
            <a:ext cx="2283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65394" y="3044952"/>
            <a:ext cx="2283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mínima em vigor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725314" y="3538728"/>
            <a:ext cx="27867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Formalização dos princípios como critério interno para todo uso de IA no Fidelidade.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43621" y="2514600"/>
            <a:ext cx="3381146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254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36229" y="2788920"/>
            <a:ext cx="548640" cy="548640"/>
          </a:xfrm>
          <a:prstGeom prst="ellipse">
            <a:avLst/>
          </a:prstGeom>
          <a:solidFill>
            <a:srgbClr val="EAF3F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5101" y="2907792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03741" y="2807208"/>
            <a:ext cx="22838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2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203741" y="3044952"/>
            <a:ext cx="22838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em 90 dias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563661" y="3538728"/>
            <a:ext cx="278678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medido ao final da Onda 3 — métricas, aprendizados e proposta de próxima fase.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66928" y="4892040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12A0E0"/>
          </a:solidFill>
          <a:ln/>
        </p:spPr>
      </p:sp>
      <p:sp>
        <p:nvSpPr>
          <p:cNvPr id="24" name="Text 19"/>
          <p:cNvSpPr/>
          <p:nvPr/>
        </p:nvSpPr>
        <p:spPr>
          <a:xfrm>
            <a:off x="978408" y="5029200"/>
            <a:ext cx="1023487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não é se o Fidelidade vai usar IA.
</a:t>
            </a:r>
            <a:r>
              <a:rPr lang="en-US" sz="1350" dirty="0">
                <a:solidFill>
                  <a:srgbClr val="EA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se vamos usá-la com visão estratégica, governança e resultado mensurável — sustentando vantagem competitiva — ou apenas como mais uma ferramenta no laptop. </a:t>
            </a:r>
            <a:r>
              <a:rPr lang="en-US" sz="1350" b="1" dirty="0">
                <a:solidFill>
                  <a:srgbClr val="00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propostos a garantir a primeira opção.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566928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 Intelligence  ·  Azul Fidelidade  ·  Junho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E1BC94E4D44F44A89184FB0805ED15" ma:contentTypeVersion="16" ma:contentTypeDescription="Create a new document." ma:contentTypeScope="" ma:versionID="5f6691396a5712838a122703db15a033">
  <xsd:schema xmlns:xsd="http://www.w3.org/2001/XMLSchema" xmlns:xs="http://www.w3.org/2001/XMLSchema" xmlns:p="http://schemas.microsoft.com/office/2006/metadata/properties" xmlns:ns3="87b767de-8b1d-42c7-bc16-ee1f3ed00906" xmlns:ns4="4d42b9c0-10ae-416a-b7d1-5a2fc392de86" targetNamespace="http://schemas.microsoft.com/office/2006/metadata/properties" ma:root="true" ma:fieldsID="841870b48f5ab3ff2aa963c47b7dcc18" ns3:_="" ns4:_="">
    <xsd:import namespace="87b767de-8b1d-42c7-bc16-ee1f3ed00906"/>
    <xsd:import namespace="4d42b9c0-10ae-416a-b7d1-5a2fc392de8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b767de-8b1d-42c7-bc16-ee1f3ed009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42b9c0-10ae-416a-b7d1-5a2fc392de8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b767de-8b1d-42c7-bc16-ee1f3ed00906" xsi:nil="true"/>
  </documentManagement>
</p:properties>
</file>

<file path=customXml/itemProps1.xml><?xml version="1.0" encoding="utf-8"?>
<ds:datastoreItem xmlns:ds="http://schemas.openxmlformats.org/officeDocument/2006/customXml" ds:itemID="{CA43B2FF-75C1-41E6-964F-4D405C8B95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b767de-8b1d-42c7-bc16-ee1f3ed00906"/>
    <ds:schemaRef ds:uri="4d42b9c0-10ae-416a-b7d1-5a2fc392de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1D0595-8F64-4B05-9D6E-B11ACD4D3E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E07EB2-63F8-4292-98F5-75975BE8BC20}">
  <ds:schemaRefs>
    <ds:schemaRef ds:uri="http://purl.org/dc/terms/"/>
    <ds:schemaRef ds:uri="4d42b9c0-10ae-416a-b7d1-5a2fc392de86"/>
    <ds:schemaRef ds:uri="http://schemas.microsoft.com/office/2006/documentManagement/types"/>
    <ds:schemaRef ds:uri="http://purl.org/dc/dcmitype/"/>
    <ds:schemaRef ds:uri="87b767de-8b1d-42c7-bc16-ee1f3ed00906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1373</Words>
  <Application>Microsoft Office PowerPoint</Application>
  <PresentationFormat>Widescreen</PresentationFormat>
  <Paragraphs>190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Fidelidade Intelligence + IA</dc:title>
  <dc:subject>PptxGenJS Presentation</dc:subject>
  <dc:creator>Azul Fidelidade</dc:creator>
  <cp:lastModifiedBy>Marcos Antônio Gonçalves Molter</cp:lastModifiedBy>
  <cp:revision>2</cp:revision>
  <dcterms:created xsi:type="dcterms:W3CDTF">2026-06-16T13:55:51Z</dcterms:created>
  <dcterms:modified xsi:type="dcterms:W3CDTF">2026-06-16T14:12:21Z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0x01010061E1BC94E4D44F44A89184FB0805ED15</vt:lpwstr>
  </property>
</Properties>
</file>